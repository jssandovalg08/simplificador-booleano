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media/image19.svg" ContentType="image/svg"/>
  <Override PartName="/ppt/media/image21.svg" ContentType="image/svg"/>
  <Override PartName="/ppt/media/image6.svg" ContentType="image/svg"/>
  <Override PartName="/ppt/media/image23.svg" ContentType="image/svg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Open Sans Bold"/>
      <p:regular r:id="rId14"/>
      <p:bold r:id="rId14"/>
    </p:embeddedFont>
    <p:embeddedFont>
      <p:font typeface="Consolas"/>
    </p:embeddedFont>
    <p:embeddedFont>
      <p:font typeface="Open Sans"/>
      <p:regular r:id="rId15"/>
      <p:bold r:id="rId16"/>
      <p:italic r:id="rId17"/>
      <p:boldItalic r:id="rId18"/>
    </p:embeddedFont>
    <p:embeddedFont>
      <p:font typeface="Instrument Sans Medium"/>
      <p:regular r:id="rId19"/>
    </p:embeddedFont>
    <p:embeddedFont>
      <p:font typeface="+mn-lt"/>
    </p:embeddedFont>
    <p:embeddedFont>
      <p:font typeface="+mn-ea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Open_Sans_Bold_Regular.fntdata"/><Relationship Id="rId15" Type="http://schemas.openxmlformats.org/officeDocument/2006/relationships/font" Target="fonts/Font_2_Open_Sans_Regular.fntdata"/><Relationship Id="rId16" Type="http://schemas.openxmlformats.org/officeDocument/2006/relationships/font" Target="fonts/Font_3_Open_Sans_Bold.fntdata"/><Relationship Id="rId17" Type="http://schemas.openxmlformats.org/officeDocument/2006/relationships/font" Target="fonts/Font_4_Open_Sans_Italic.fntdata"/><Relationship Id="rId18" Type="http://schemas.openxmlformats.org/officeDocument/2006/relationships/font" Target="fonts/Font_5_Open_Sans_BoldItalic.fntdata"/><Relationship Id="rId19" Type="http://schemas.openxmlformats.org/officeDocument/2006/relationships/font" Target="fonts/Font_6_Instrument_Sans_Medium_Regular.fntdata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3FB1570-13CD-411A-ADD0-D298D67DB4D5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62A69A-E0BA-4A90-A4A1-D711496A77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ED74B6-E49D-4D7E-ADAB-3232993C7A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3D3EB0-C7C1-449D-B597-3BDEC00FB1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D14644-0936-4601-8D72-1F2007C72C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01DA3A-161E-423A-A24B-A254FDDE18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18BA58-A852-48CC-A9D5-2619B34FCF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BA7736-41DD-4879-BA65-72BCB845D2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662564-00BE-471E-BB4E-7957056871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70D1B0-5EF7-442F-B68A-EAC7B01F61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4D56D1-FBA0-48DC-9AA6-BDDEA2EB88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1076840" y="655884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svg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13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4571640" cy="6857640"/>
          </a:xfrm>
          <a:prstGeom prst="rect">
            <a:avLst/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94320" y="506880"/>
            <a:ext cx="4382640" cy="584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1"/>
          <p:cNvSpPr/>
          <p:nvPr/>
        </p:nvSpPr>
        <p:spPr>
          <a:xfrm>
            <a:off x="5233320" y="956520"/>
            <a:ext cx="62964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FEFEFE"/>
                </a:solidFill>
                <a:effectLst/>
                <a:uFillTx/>
                <a:latin typeface="Instrument Sans Medium"/>
                <a:ea typeface="Instrument Sans Medium"/>
              </a:rPr>
              <a:t>Simplificador de Álgebra de Boole Paso a Paso</a:t>
            </a:r>
            <a:endParaRPr lang="es-CO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233320" y="2421360"/>
            <a:ext cx="690624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BFBFBF"/>
                </a:solidFill>
                <a:effectLst/>
                <a:uFillTx/>
                <a:latin typeface="Open Sans Bold"/>
                <a:ea typeface="Open Sans Bold"/>
              </a:rPr>
              <a:t>AST N-ario y algoritmo Shunting Yard en Java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233320" y="2936520"/>
            <a:ext cx="3053520" cy="1686600"/>
          </a:xfrm>
          <a:prstGeom prst="roundRect">
            <a:avLst>
              <a:gd name="adj" fmla="val 1681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422320" y="3125520"/>
            <a:ext cx="26755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Expresiones Complejas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5422320" y="3534120"/>
            <a:ext cx="267552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Procesa booleanas incluyendo XOR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8476200" y="2936520"/>
            <a:ext cx="3053520" cy="1686600"/>
          </a:xfrm>
          <a:prstGeom prst="roundRect">
            <a:avLst>
              <a:gd name="adj" fmla="val 1681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665200" y="3125520"/>
            <a:ext cx="26755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Visualización Paso a Paso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8665200" y="3829320"/>
            <a:ext cx="267552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Reducción a mínima expresión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5233320" y="4812120"/>
            <a:ext cx="6296400" cy="1088640"/>
          </a:xfrm>
          <a:prstGeom prst="roundRect">
            <a:avLst>
              <a:gd name="adj" fmla="val 2603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5422320" y="5001120"/>
            <a:ext cx="59184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Arquitectura Desacoplada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5422320" y="5410080"/>
            <a:ext cx="59184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Parser + Motor de Reglas independientes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2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 descr="preencoded.png"/>
          <p:cNvPicPr/>
          <p:nvPr/>
        </p:nvPicPr>
        <p:blipFill>
          <a:blip r:embed="rId1"/>
          <a:stretch/>
        </p:blipFill>
        <p:spPr>
          <a:xfrm>
            <a:off x="661320" y="1676880"/>
            <a:ext cx="3503880" cy="350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0"/>
          <p:cNvSpPr/>
          <p:nvPr/>
        </p:nvSpPr>
        <p:spPr>
          <a:xfrm>
            <a:off x="4633200" y="913680"/>
            <a:ext cx="69030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FEFEFE"/>
                </a:solidFill>
                <a:effectLst/>
                <a:uFillTx/>
                <a:latin typeface="Instrument Sans Medium"/>
                <a:ea typeface="Instrument Sans Medium"/>
              </a:rPr>
              <a:t>El Problema: Limitaciones de Árboles Binarios</a:t>
            </a:r>
            <a:endParaRPr lang="es-CO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633200" y="2307600"/>
            <a:ext cx="2174760" cy="36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1"/>
          <p:cNvSpPr/>
          <p:nvPr/>
        </p:nvSpPr>
        <p:spPr>
          <a:xfrm>
            <a:off x="4949280" y="2521800"/>
            <a:ext cx="164412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Asociatividad y Conmutatividad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949280" y="3891960"/>
            <a:ext cx="164412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Rompen la estructura izq/der tradicional, generando árboles desequilibrados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997320" y="2307600"/>
            <a:ext cx="2174760" cy="36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3"/>
          <p:cNvSpPr/>
          <p:nvPr/>
        </p:nvSpPr>
        <p:spPr>
          <a:xfrm>
            <a:off x="7313400" y="2521800"/>
            <a:ext cx="164448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Variables Compartidas No Detectadas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7313400" y="3596760"/>
            <a:ext cx="1644480" cy="15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(A | B) &amp; (B &amp; D)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— el árbol binario no identifica la variable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B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en común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361440" y="2307600"/>
            <a:ext cx="2174760" cy="361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5"/>
          <p:cNvSpPr/>
          <p:nvPr/>
        </p:nvSpPr>
        <p:spPr>
          <a:xfrm>
            <a:off x="9677520" y="2521800"/>
            <a:ext cx="16444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Solución N-aria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9677520" y="3301560"/>
            <a:ext cx="1644480" cy="15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Listas de hijos en lugar de nodos binarios habilitan Absorción y Factor Común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"/>
          <p:cNvPicPr/>
          <p:nvPr/>
        </p:nvPicPr>
        <p:blipFill>
          <a:blip r:embed="rId8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661320" y="99144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FEFEFE"/>
                </a:solidFill>
                <a:effectLst/>
                <a:uFillTx/>
                <a:latin typeface="Instrument Sans Medium"/>
                <a:ea typeface="Instrument Sans Medium"/>
              </a:rPr>
              <a:t>Arquitectura del Sistema</a:t>
            </a:r>
            <a:endParaRPr lang="es-CO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preencoded.png"/>
          <p:cNvPicPr/>
          <p:nvPr/>
        </p:nvPicPr>
        <p:blipFill>
          <a:blip r:embed="rId1"/>
          <a:stretch/>
        </p:blipFill>
        <p:spPr>
          <a:xfrm>
            <a:off x="725400" y="1960200"/>
            <a:ext cx="10740240" cy="30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"/>
          <p:cNvSpPr/>
          <p:nvPr/>
        </p:nvSpPr>
        <p:spPr>
          <a:xfrm>
            <a:off x="1578600" y="2182320"/>
            <a:ext cx="23256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Capa 1: Parser</a:t>
            </a:r>
            <a:endParaRPr lang="es-CO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1578600" y="2575080"/>
            <a:ext cx="232560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Shunting Yard: precedencia y paréntesis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8884800" y="2910600"/>
            <a:ext cx="23256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Capa 2: Motor</a:t>
            </a:r>
            <a:endParaRPr lang="es-CO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8884800" y="3303360"/>
            <a:ext cx="232560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AST Composite y simplificación recursiva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981000" y="3747600"/>
            <a:ext cx="23256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Flujo Completo</a:t>
            </a:r>
            <a:endParaRPr lang="es-CO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981000" y="4140360"/>
            <a:ext cx="2325600" cy="48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Infijo → Posfijo → AST → Simplificación</a:t>
            </a:r>
            <a:endParaRPr lang="es-CO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661320" y="5261400"/>
            <a:ext cx="108684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Diseño en capas que separa responsabilidades: el </a:t>
            </a:r>
            <a:r>
              <a:rPr lang="en-US" sz="1450" b="1" u="none" strike="noStrike">
                <a:solidFill>
                  <a:srgbClr val="BFBFBF"/>
                </a:solidFill>
                <a:effectLst/>
                <a:uFillTx/>
                <a:latin typeface="Open Sans Bold"/>
                <a:ea typeface="Open Sans Bold"/>
              </a:rPr>
              <a:t>Parser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transforma texto, el </a:t>
            </a:r>
            <a:r>
              <a:rPr lang="en-US" sz="1450" b="1" u="none" strike="noStrike">
                <a:solidFill>
                  <a:srgbClr val="BFBFBF"/>
                </a:solidFill>
                <a:effectLst/>
                <a:uFillTx/>
                <a:latin typeface="Open Sans Bold"/>
                <a:ea typeface="Open Sans Bold"/>
              </a:rPr>
              <a:t>Motor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simplifica estructuralmente mediante el patrón Composite.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/>
          <p:cNvPicPr/>
          <p:nvPr/>
        </p:nvPicPr>
        <p:blipFill>
          <a:blip r:embed="rId2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4571640" cy="6857640"/>
          </a:xfrm>
          <a:prstGeom prst="rect">
            <a:avLst/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94320" y="506880"/>
            <a:ext cx="4382640" cy="584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"/>
          <p:cNvSpPr/>
          <p:nvPr/>
        </p:nvSpPr>
        <p:spPr>
          <a:xfrm>
            <a:off x="5233320" y="866880"/>
            <a:ext cx="6296400" cy="11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FEFEFE"/>
                </a:solidFill>
                <a:effectLst/>
                <a:uFillTx/>
                <a:latin typeface="Instrument Sans Medium"/>
                <a:ea typeface="Instrument Sans Medium"/>
              </a:rPr>
              <a:t>Fase 1: Shunting Yard y Parsing</a:t>
            </a:r>
            <a:endParaRPr lang="es-CO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1" descr="preencoded.png"/>
          <p:cNvPicPr/>
          <p:nvPr/>
        </p:nvPicPr>
        <p:blipFill>
          <a:blip r:embed="rId2"/>
          <a:stretch/>
        </p:blipFill>
        <p:spPr>
          <a:xfrm>
            <a:off x="5233320" y="2331720"/>
            <a:ext cx="944640" cy="11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"/>
          <p:cNvSpPr/>
          <p:nvPr/>
        </p:nvSpPr>
        <p:spPr>
          <a:xfrm>
            <a:off x="6367320" y="2520720"/>
            <a:ext cx="51624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Precedencia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367320" y="2929320"/>
            <a:ext cx="51624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NOT &gt; AND &gt; OR &gt; XOR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2" descr="preencoded.png"/>
          <p:cNvPicPr/>
          <p:nvPr/>
        </p:nvPicPr>
        <p:blipFill>
          <a:blip r:embed="rId3"/>
          <a:stretch/>
        </p:blipFill>
        <p:spPr>
          <a:xfrm>
            <a:off x="5233320" y="3465720"/>
            <a:ext cx="944640" cy="139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4"/>
          <p:cNvSpPr/>
          <p:nvPr/>
        </p:nvSpPr>
        <p:spPr>
          <a:xfrm>
            <a:off x="6367320" y="3654720"/>
            <a:ext cx="51624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Pilas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6367320" y="4063320"/>
            <a:ext cx="516240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Convierte infijo a postfijo, maneja paréntesis sin ambigüedad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3" descr="preencoded.png"/>
          <p:cNvPicPr/>
          <p:nvPr/>
        </p:nvPicPr>
        <p:blipFill>
          <a:blip r:embed="rId4"/>
          <a:stretch/>
        </p:blipFill>
        <p:spPr>
          <a:xfrm>
            <a:off x="5233320" y="4857120"/>
            <a:ext cx="944640" cy="11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6"/>
          <p:cNvSpPr/>
          <p:nvPr/>
        </p:nvSpPr>
        <p:spPr>
          <a:xfrm>
            <a:off x="6367320" y="5046120"/>
            <a:ext cx="51624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Expansión XOR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6367320" y="5454720"/>
            <a:ext cx="51624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A ^ B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→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(A &amp; !B) | (!A &amp; B)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automáticamente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5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2700000" y="154800"/>
            <a:ext cx="7020000" cy="650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/>
          <p:cNvPicPr/>
          <p:nvPr/>
        </p:nvPicPr>
        <p:blipFill>
          <a:blip r:embed="rId2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661320" y="1205640"/>
            <a:ext cx="5203440" cy="177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FEFEFE"/>
                </a:solidFill>
                <a:effectLst/>
                <a:uFillTx/>
                <a:latin typeface="Instrument Sans Medium"/>
                <a:ea typeface="Instrument Sans Medium"/>
              </a:rPr>
              <a:t>Fase 2: Árbol de Sintaxis Abstracta (AST)</a:t>
            </a:r>
            <a:endParaRPr lang="es-CO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61320" y="3166920"/>
            <a:ext cx="520344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El </a:t>
            </a:r>
            <a:r>
              <a:rPr lang="en-US" sz="1450" b="1" u="none" strike="noStrike">
                <a:solidFill>
                  <a:srgbClr val="BFBFBF"/>
                </a:solidFill>
                <a:effectLst/>
                <a:uFillTx/>
                <a:latin typeface="Open Sans Bold"/>
                <a:ea typeface="Open Sans Bold"/>
              </a:rPr>
              <a:t>Patrón Composite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permite tratar nodos simples y compuestos de forma uniforme. La clase abstracta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Expr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es heredada por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Var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,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And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,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Or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y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Not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661320" y="4286520"/>
            <a:ext cx="5203440" cy="1341360"/>
          </a:xfrm>
          <a:prstGeom prst="roundRect">
            <a:avLst>
              <a:gd name="adj" fmla="val 2113"/>
            </a:avLst>
          </a:prstGeom>
          <a:solidFill>
            <a:srgbClr val="7979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850320" y="4579560"/>
            <a:ext cx="23580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3"/>
          <p:cNvSpPr/>
          <p:nvPr/>
        </p:nvSpPr>
        <p:spPr>
          <a:xfrm>
            <a:off x="1275840" y="4503960"/>
            <a:ext cx="440028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La estructura N-aria agrupa múltiples operandos del mismo nivel naturalmente, eliminando profundidad artificial.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2"/>
          <a:stretch/>
        </p:blipFill>
        <p:spPr>
          <a:xfrm>
            <a:off x="6332760" y="826920"/>
            <a:ext cx="5203440" cy="520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"/>
          <p:cNvPicPr/>
          <p:nvPr/>
        </p:nvPicPr>
        <p:blipFill>
          <a:blip r:embed="rId3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661320" y="83160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FEFEFE"/>
                </a:solidFill>
                <a:effectLst/>
                <a:uFillTx/>
                <a:latin typeface="Instrument Sans Medium"/>
                <a:ea typeface="Instrument Sans Medium"/>
              </a:rPr>
              <a:t>El Algoritmo de Simplificación</a:t>
            </a:r>
            <a:endParaRPr lang="es-CO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661320" y="1918080"/>
            <a:ext cx="424800" cy="4248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732240" y="1953720"/>
            <a:ext cx="2829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1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275840" y="1983240"/>
            <a:ext cx="27187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Bottom-Up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1275840" y="2467440"/>
            <a:ext cx="271872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Simplifica ramas profundas primero mediante recursividad, garantizando que cada subárbol esté reducido antes de procesar el padre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4231080" y="1918080"/>
            <a:ext cx="424800" cy="4248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4302000" y="1953720"/>
            <a:ext cx="2829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2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4845600" y="1983240"/>
            <a:ext cx="27190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Aplanamiento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8"/>
          <p:cNvSpPr/>
          <p:nvPr/>
        </p:nvSpPr>
        <p:spPr>
          <a:xfrm>
            <a:off x="4845600" y="2467440"/>
            <a:ext cx="271908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OR(A, OR(B, C))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→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OR(A, B, C)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elimina paréntesis redundantes y reduce profundidad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661320" y="4659840"/>
            <a:ext cx="424800" cy="424800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732240" y="4695480"/>
            <a:ext cx="2829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3</a:t>
            </a:r>
            <a:endParaRPr lang="es-CO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1275840" y="4724640"/>
            <a:ext cx="62888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Leyes Aplicadas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1275840" y="5209200"/>
            <a:ext cx="628884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Idempotencia, Anulación, Absorción, Factor Común y De Morgan en orden sistemático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8032320" y="2113920"/>
            <a:ext cx="3503880" cy="350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/>
          <p:cNvPicPr/>
          <p:nvPr/>
        </p:nvPicPr>
        <p:blipFill>
          <a:blip r:embed="rId2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Image 0" descr="preencoded.png"/>
          <p:cNvPicPr/>
          <p:nvPr/>
        </p:nvPicPr>
        <p:blipFill>
          <a:blip r:embed="rId1"/>
          <a:stretch/>
        </p:blipFill>
        <p:spPr>
          <a:xfrm>
            <a:off x="3780000" y="87840"/>
            <a:ext cx="4500000" cy="665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2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375120" y="936360"/>
            <a:ext cx="11324880" cy="428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/>
          <p:cNvPicPr/>
          <p:nvPr/>
        </p:nvPicPr>
        <p:blipFill>
          <a:blip r:embed="rId2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661320" y="1145520"/>
            <a:ext cx="1086840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0" u="none" strike="noStrike">
                <a:solidFill>
                  <a:srgbClr val="FEFEFE"/>
                </a:solidFill>
                <a:effectLst/>
                <a:uFillTx/>
                <a:latin typeface="Instrument Sans Medium"/>
                <a:ea typeface="Instrument Sans Medium"/>
              </a:rPr>
              <a:t>Conclusiones y Beneficios del Diseño</a:t>
            </a:r>
            <a:endParaRPr lang="es-CO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61320" y="2114280"/>
            <a:ext cx="471960" cy="4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"/>
          <p:cNvSpPr/>
          <p:nvPr/>
        </p:nvSpPr>
        <p:spPr>
          <a:xfrm>
            <a:off x="661320" y="2823120"/>
            <a:ext cx="34650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Mantenibilidad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661320" y="3231720"/>
            <a:ext cx="346500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Cada nodo es responsable de sus propias reglas de simplificación — </a:t>
            </a:r>
            <a:r>
              <a:rPr lang="en-US" sz="1450" b="1" u="none" strike="noStrike">
                <a:solidFill>
                  <a:srgbClr val="BFBFBF"/>
                </a:solidFill>
                <a:effectLst/>
                <a:uFillTx/>
                <a:latin typeface="Open Sans Bold"/>
                <a:ea typeface="Open Sans Bold"/>
              </a:rPr>
              <a:t>alta cohesión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, bajo acoplamiento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363200" y="2114280"/>
            <a:ext cx="471960" cy="4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3"/>
          <p:cNvSpPr/>
          <p:nvPr/>
        </p:nvSpPr>
        <p:spPr>
          <a:xfrm>
            <a:off x="4363200" y="2823120"/>
            <a:ext cx="34650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Escalabilidad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4363200" y="3231720"/>
            <a:ext cx="3465000" cy="9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Agregar un nuevo operador implica solo crear una nueva clase </a:t>
            </a:r>
            <a:r>
              <a:rPr lang="en-US" sz="1450" b="0" u="none" strike="noStrike">
                <a:solidFill>
                  <a:srgbClr val="BFBFBF"/>
                </a:solidFill>
                <a:effectLst/>
                <a:highlight>
                  <a:srgbClr val="2C2C2C"/>
                </a:highlight>
                <a:uFillTx/>
                <a:latin typeface="Consolas"/>
                <a:ea typeface="Consolas"/>
              </a:rPr>
              <a:t>Expr</a:t>
            </a: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 sin modificar el bucle principal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64720" y="2114280"/>
            <a:ext cx="471960" cy="47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5"/>
          <p:cNvSpPr/>
          <p:nvPr/>
        </p:nvSpPr>
        <p:spPr>
          <a:xfrm>
            <a:off x="8064720" y="2823120"/>
            <a:ext cx="34650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0" u="none" strike="noStrike">
                <a:solidFill>
                  <a:srgbClr val="BFBFBF"/>
                </a:solidFill>
                <a:effectLst/>
                <a:uFillTx/>
                <a:latin typeface="Instrument Sans Medium"/>
                <a:ea typeface="Instrument Sans Medium"/>
              </a:rPr>
              <a:t>Eficiencia</a:t>
            </a:r>
            <a:endParaRPr lang="es-CO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8064720" y="3231720"/>
            <a:ext cx="346500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BFBFBF"/>
                </a:solidFill>
                <a:effectLst/>
                <a:uFillTx/>
                <a:latin typeface="Open Sans"/>
                <a:ea typeface="Open Sans"/>
              </a:rPr>
              <a:t>La estructura N-aria con aplanamiento evita la explosión combinatoria que sufre De Morgan en árboles binarios profundos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661320" y="4654080"/>
            <a:ext cx="10868400" cy="1058040"/>
          </a:xfrm>
          <a:prstGeom prst="roundRect">
            <a:avLst>
              <a:gd name="adj" fmla="val 2679"/>
            </a:avLst>
          </a:prstGeom>
          <a:solidFill>
            <a:srgbClr val="79790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3" descr="preencoded.png"/>
          <p:cNvPicPr/>
          <p:nvPr/>
        </p:nvPicPr>
        <p:blipFill>
          <a:blip r:embed="rId7"/>
          <a:stretch/>
        </p:blipFill>
        <p:spPr>
          <a:xfrm>
            <a:off x="850320" y="4921560"/>
            <a:ext cx="23580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8"/>
          <p:cNvSpPr/>
          <p:nvPr/>
        </p:nvSpPr>
        <p:spPr>
          <a:xfrm>
            <a:off x="1275840" y="4890240"/>
            <a:ext cx="1006524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Open Sans"/>
                <a:ea typeface="Open Sans"/>
              </a:rPr>
              <a:t>El diseño desacoplado en capas hace el sistema robusto ante cambios futuros en la lógica de simplificación o parsing de la entrada.</a:t>
            </a:r>
            <a:endParaRPr lang="es-CO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8"/>
          <a:stretch/>
        </p:blipFill>
        <p:spPr>
          <a:xfrm>
            <a:off x="10980000" y="6480000"/>
            <a:ext cx="1195920" cy="36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LibreOffice/26.8.0.3$Linux_X86_64 LibreOffice_project/e34ffb33db0c92181c79084d759a90d6bf45d9b3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2026-09-23T14:37:55Z</dcterms:created>
  <dc:creator/>
  <dc:description/>
  <dc:language>es-CO</dc:language>
  <cp:lastModifiedBy/>
  <dcterms:modified xsi:type="dcterms:W3CDTF">2026-09-23T09:40:31Z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